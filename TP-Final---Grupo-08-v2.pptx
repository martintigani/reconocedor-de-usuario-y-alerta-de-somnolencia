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  <p:embeddedFont>
      <p:font typeface="Rajdhani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Rajdhani-bold.fntdata"/><Relationship Id="rId27" Type="http://schemas.openxmlformats.org/officeDocument/2006/relationships/font" Target="fonts/Rajdhan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a8c5426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a8c54262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d440746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d440746a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a8c54262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aa8c542621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8c54262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a8c542621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d440746a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d440746a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a8c54262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a8c542621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qqLm_kvH47eyzv7e7BbYAtFracrkbUhB/view" TargetMode="External"/><Relationship Id="rId5" Type="http://schemas.openxmlformats.org/officeDocument/2006/relationships/image" Target="../media/image2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Ep_dZtLik6bO_0-uGninYE3C_pbcf8_X/view" TargetMode="External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581025"/>
            <a:ext cx="115815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50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TRABAJO </a:t>
            </a:r>
            <a:r>
              <a:rPr b="1" lang="en-US" sz="7450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PRÁCTICO</a:t>
            </a:r>
            <a:r>
              <a:rPr b="1" lang="en-US" sz="7450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 FINAL</a:t>
            </a:r>
            <a:endParaRPr sz="2100"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1771650"/>
            <a:ext cx="115815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5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UNLAM | 3679 VISIÓN ARTIFICIAL</a:t>
            </a:r>
            <a:endParaRPr b="1" sz="5850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81025" y="3343275"/>
            <a:ext cx="1905000" cy="47625"/>
          </a:xfrm>
          <a:prstGeom prst="roundRect">
            <a:avLst>
              <a:gd fmla="val 16667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0950" y="3477300"/>
            <a:ext cx="110301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SISTEMA DE SEGURIDAD </a:t>
            </a:r>
            <a:r>
              <a:rPr b="1" lang="en-US" sz="21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BIOMÉTRICO</a:t>
            </a:r>
            <a:r>
              <a:rPr b="1" lang="en-US" sz="21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 PARA CONDUCTORES 🚘</a:t>
            </a:r>
            <a:endParaRPr b="1" sz="2100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DRIVER SAFETY MONITOR</a:t>
            </a:r>
            <a:endParaRPr b="1" sz="2100">
              <a:solidFill>
                <a:srgbClr val="E2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4550" y="4285500"/>
            <a:ext cx="5543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INTEGRANTES:</a:t>
            </a:r>
            <a:endParaRPr b="1" sz="1800" u="sng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"/>
              <a:buChar char="●"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CAMEAN, Pablo Ezequiel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"/>
              <a:buChar char="●"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COCCIARDI, Agustín Ignacio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"/>
              <a:buChar char="●"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MARTIN, Gonzalo Javier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"/>
              <a:buChar char="●"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TIGANI, Martin Sebastian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19925" y="4285500"/>
            <a:ext cx="53709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PROFESORES:</a:t>
            </a: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"/>
              <a:buChar char="●"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SILVESTRI, JORGE ALEJANDRO, 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Mono"/>
              <a:buChar char="●"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SINOPOLI ALESIO ESTEBAN ABEL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SEGUNDO CUATRIMESTRE 2025</a:t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INDICE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581025"/>
            <a:ext cx="47700" cy="590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1425400"/>
            <a:ext cx="112422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Problemática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Tecnologías Utilizadas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Alcance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Arquitectura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Login Biométrico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Monitoreo y Detección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Analisis de Somnolencia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Detección de Obstrucción / Ausencia de Rostro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Detección de Celular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Detección de 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Cinturón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de Seguridad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Fusión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de Riesgos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DEMO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AutoNum type="arabicPeriod"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Conclusión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34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9775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6050" y="5276850"/>
            <a:ext cx="1943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LA PROBLEMÁTICA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1592137"/>
            <a:ext cx="532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Los accidentes de tráfico son una de las principales causas de mortalidad mundial.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5550" y="2028825"/>
            <a:ext cx="52863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66775" y="2843212"/>
            <a:ext cx="50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Distracción: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El uso del celular reduce el tiempo de reacción en un 35%.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4014768"/>
            <a:ext cx="50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Fatiga: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La somnolencia es responsable del 20% de los accidentes graves.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66738" y="5186362"/>
            <a:ext cx="50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Seguridad Pasiva: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El no uso del cinturón aumenta exponencialmente la letalidad.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28432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4014787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0950" y="5186362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00977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TECNOLOGÍAS UTILIZADAS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12624" l="0" r="24619" t="11869"/>
          <a:stretch/>
        </p:blipFill>
        <p:spPr>
          <a:xfrm>
            <a:off x="6286500" y="2014525"/>
            <a:ext cx="5324474" cy="38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66775" y="2327800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Python 3.11: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Lenguaje base del proyecto.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3156474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OpenCV: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Procesamiento de imágenes y manejo de video.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66775" y="3985150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MediaPipe: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Detección de puntos clave para identificar ojos y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manos.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4813825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YOLO 8: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Detección de objetos personalizada.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232780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3156474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398515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81025" y="481382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ALCANCE</a:t>
            </a: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endParaRPr b="1" sz="3600">
              <a:solidFill>
                <a:srgbClr val="F8FAFC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81025" y="1435177"/>
            <a:ext cx="5372101" cy="2457450"/>
            <a:chOff x="581025" y="1552575"/>
            <a:chExt cx="5372101" cy="2457450"/>
          </a:xfrm>
        </p:grpSpPr>
        <p:pic>
          <p:nvPicPr>
            <p:cNvPr descr="image.png" id="140" name="Google Shape;14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" y="1552575"/>
              <a:ext cx="5372101" cy="245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1" name="Google Shape;14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300" y="1847850"/>
              <a:ext cx="478155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7"/>
            <p:cNvSpPr txBox="1"/>
            <p:nvPr/>
          </p:nvSpPr>
          <p:spPr>
            <a:xfrm>
              <a:off x="876300" y="2495550"/>
              <a:ext cx="502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6B6D4"/>
                  </a:solidFill>
                  <a:latin typeface="Rajdhani"/>
                  <a:ea typeface="Rajdhani"/>
                  <a:cs typeface="Rajdhani"/>
                  <a:sym typeface="Rajdhani"/>
                </a:rPr>
                <a:t>1. CAPTURA</a:t>
              </a:r>
              <a:endParaRPr/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876300" y="3028950"/>
              <a:ext cx="47817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Adquisición de video en tiempo real mediante OpenCV.</a:t>
              </a:r>
              <a:endParaRPr/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6238875" y="1435177"/>
            <a:ext cx="5372101" cy="2457450"/>
            <a:chOff x="6238875" y="1552575"/>
            <a:chExt cx="5372101" cy="2457450"/>
          </a:xfrm>
        </p:grpSpPr>
        <p:pic>
          <p:nvPicPr>
            <p:cNvPr descr="image.png" id="145" name="Google Shape;14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38875" y="1552575"/>
              <a:ext cx="5372101" cy="245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6" name="Google Shape;146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34150" y="1847850"/>
              <a:ext cx="478155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7"/>
            <p:cNvSpPr txBox="1"/>
            <p:nvPr/>
          </p:nvSpPr>
          <p:spPr>
            <a:xfrm>
              <a:off x="6534150" y="2495550"/>
              <a:ext cx="502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6B6D4"/>
                  </a:solidFill>
                  <a:latin typeface="Rajdhani"/>
                  <a:ea typeface="Rajdhani"/>
                  <a:cs typeface="Rajdhani"/>
                  <a:sym typeface="Rajdhani"/>
                </a:rPr>
                <a:t>2. RECONOCIMIENTO FACIAL</a:t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6534150" y="3028950"/>
              <a:ext cx="47817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Generación de embeddings mediante face_recognition.</a:t>
              </a:r>
              <a:endParaRPr/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581025" y="4178377"/>
            <a:ext cx="5372101" cy="2457450"/>
            <a:chOff x="581025" y="4295775"/>
            <a:chExt cx="5372101" cy="2457450"/>
          </a:xfrm>
        </p:grpSpPr>
        <p:pic>
          <p:nvPicPr>
            <p:cNvPr descr="image.png" id="150" name="Google Shape;15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" y="4295775"/>
              <a:ext cx="5372101" cy="245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51" name="Google Shape;151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6300" y="4591050"/>
              <a:ext cx="478155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7"/>
            <p:cNvSpPr txBox="1"/>
            <p:nvPr/>
          </p:nvSpPr>
          <p:spPr>
            <a:xfrm>
              <a:off x="876300" y="5238750"/>
              <a:ext cx="502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6B6D4"/>
                  </a:solidFill>
                  <a:latin typeface="Rajdhani"/>
                  <a:ea typeface="Rajdhani"/>
                  <a:cs typeface="Rajdhani"/>
                  <a:sym typeface="Rajdhani"/>
                </a:rPr>
                <a:t>3. </a:t>
              </a:r>
              <a:r>
                <a:rPr b="1" lang="en-US" sz="2400">
                  <a:solidFill>
                    <a:srgbClr val="06B6D4"/>
                  </a:solidFill>
                  <a:latin typeface="Rajdhani"/>
                  <a:ea typeface="Rajdhani"/>
                  <a:cs typeface="Rajdhani"/>
                  <a:sym typeface="Rajdhani"/>
                </a:rPr>
                <a:t>MONITOREO Y </a:t>
              </a:r>
              <a:r>
                <a:rPr b="1" lang="en-US" sz="2400">
                  <a:solidFill>
                    <a:srgbClr val="06B6D4"/>
                  </a:solidFill>
                  <a:latin typeface="Rajdhani"/>
                  <a:ea typeface="Rajdhani"/>
                  <a:cs typeface="Rajdhani"/>
                  <a:sym typeface="Rajdhani"/>
                </a:rPr>
                <a:t>DETECCIÓN</a:t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876300" y="5772150"/>
              <a:ext cx="47817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MediaPipe para rostro y manos. YOLOv8 para celular y cinturón.</a:t>
              </a:r>
              <a:endParaRPr/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6238875" y="4178377"/>
            <a:ext cx="5372101" cy="2457450"/>
            <a:chOff x="6238875" y="4295775"/>
            <a:chExt cx="5372101" cy="2457450"/>
          </a:xfrm>
        </p:grpSpPr>
        <p:grpSp>
          <p:nvGrpSpPr>
            <p:cNvPr id="155" name="Google Shape;155;p17"/>
            <p:cNvGrpSpPr/>
            <p:nvPr/>
          </p:nvGrpSpPr>
          <p:grpSpPr>
            <a:xfrm>
              <a:off x="6238875" y="4295775"/>
              <a:ext cx="5372101" cy="2457450"/>
              <a:chOff x="6238875" y="4295775"/>
              <a:chExt cx="5372101" cy="2457450"/>
            </a:xfrm>
          </p:grpSpPr>
          <p:pic>
            <p:nvPicPr>
              <p:cNvPr descr="image.png" id="156" name="Google Shape;156;p1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238875" y="4295775"/>
                <a:ext cx="5372101" cy="245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.png" id="157" name="Google Shape;157;p1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534150" y="4591050"/>
                <a:ext cx="478155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" name="Google Shape;158;p17"/>
              <p:cNvSpPr txBox="1"/>
              <p:nvPr/>
            </p:nvSpPr>
            <p:spPr>
              <a:xfrm>
                <a:off x="6534150" y="5238750"/>
                <a:ext cx="5020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400" u="none" cap="none" strike="noStrike">
                    <a:solidFill>
                      <a:srgbClr val="06B6D4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4. ALERTA</a:t>
                </a:r>
                <a:endParaRPr/>
              </a:p>
            </p:txBody>
          </p:sp>
        </p:grpSp>
        <p:sp>
          <p:nvSpPr>
            <p:cNvPr id="159" name="Google Shape;159;p17"/>
            <p:cNvSpPr txBox="1"/>
            <p:nvPr/>
          </p:nvSpPr>
          <p:spPr>
            <a:xfrm>
              <a:off x="6534150" y="5772150"/>
              <a:ext cx="47817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Interfaz visual con </a:t>
              </a:r>
              <a:r>
                <a:rPr lang="en-US" sz="1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cálculo</a:t>
              </a:r>
              <a:r>
                <a:rPr b="0" i="0" lang="en-US" sz="1800" u="none" cap="none" strike="noStrike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de </a:t>
              </a:r>
              <a:r>
                <a:rPr lang="en-US" sz="1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métricas</a:t>
              </a:r>
              <a:r>
                <a:rPr lang="en-US" sz="1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i="0" lang="en-US" sz="1800" u="none" cap="none" strike="noStrike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 riesgos ponderad</a:t>
              </a:r>
              <a:r>
                <a:rPr lang="en-US" sz="18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os</a:t>
              </a:r>
              <a:r>
                <a:rPr b="0" i="0" lang="en-US" sz="1800" u="none" cap="none" strike="noStrike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ARQUITECTURA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581025"/>
            <a:ext cx="47700" cy="590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5850" y="1135125"/>
            <a:ext cx="5236375" cy="523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66775" y="1545150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driver_embeddings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implementa face_recognition para login.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2373825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belt_yolo8: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detecta si el conductor tiene puesto el cinturón.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3202499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cellphone_yolo8: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detecta si el conductor está usando celular.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866775" y="4031175"/>
            <a:ext cx="50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slipness_mediapipe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análisis de landmarks faciales para detección de somnolencia (ojos y boca).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154515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237382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81025" y="3202499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81025" y="4031175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6775" y="5275350"/>
            <a:ext cx="503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face_mediapipe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detección de rostros frente al volante.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81025" y="527535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title="dc.JPG"/>
          <p:cNvPicPr preferRelativeResize="0"/>
          <p:nvPr/>
        </p:nvPicPr>
        <p:blipFill rotWithShape="1">
          <a:blip r:embed="rId4">
            <a:alphaModFix/>
          </a:blip>
          <a:srcRect b="5484" l="0" r="0" t="5484"/>
          <a:stretch/>
        </p:blipFill>
        <p:spPr>
          <a:xfrm>
            <a:off x="6421600" y="2009775"/>
            <a:ext cx="5324475" cy="38100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19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LOGIN BIOMÉTRICO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28650" y="2009775"/>
            <a:ext cx="54369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Utilizamos la biblioteca </a:t>
            </a: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face_recognition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para la generación de un embedding.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b="1" i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face_locations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para encontrar un rostro en la 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cámara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/imagen.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b="1" i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face_encoddings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para extraer el rostro al embeddings.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Entonces, a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ntes de iniciar el Monitoreo, el sistema verifica la identidad del conductor mediante el embedding construido.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MONITOREO Y DETECCIÓN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016625" y="1622850"/>
            <a:ext cx="59970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Una vez logueado el conductor se inicia el 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monitoreo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de: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Estado de Somnolencia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Colocación del 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Cinturón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de seguridad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Uso del Celular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Presencia/Obstrucción del conductor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INTERFAZ DE USUARIO: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Visualización en tiempo real de la cámara.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Barras de progreso para cada riesgo.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Métricas de </a:t>
            </a: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somnolencia.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ono"/>
              <a:buChar char="●"/>
            </a:pPr>
            <a:r>
              <a:rPr lang="en-US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Alertas en base al riesgo calculado.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 title="cel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900" y="1899600"/>
            <a:ext cx="5223400" cy="4025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0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ANALISIS DE SOMNOLENCIA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81025" y="581025"/>
            <a:ext cx="47700" cy="590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28724" y="1487112"/>
            <a:ext cx="11140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Mediante la utilización de MediaPipe se obtienen los landmarks de un rostro captado en cámara y se obtienen los siguientes indicadores: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14479" y="2384875"/>
            <a:ext cx="665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EAR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mide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distancia entre los puntos del ojo. 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EAR </a:t>
            </a:r>
            <a:r>
              <a:rPr lang="en-US" sz="180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&lt; 0.21 = Ojo Cerrado</a:t>
            </a:r>
            <a:r>
              <a:rPr lang="en-US">
                <a:solidFill>
                  <a:schemeClr val="dk1"/>
                </a:solidFill>
              </a:rPr>
              <a:t>.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28713" y="2384881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14479" y="3213075"/>
            <a:ext cx="665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mide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que tan abierta está la boca usando las distancias entre los puntos x/y. 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MAR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&gt; 0.7 = Bostezo</a:t>
            </a:r>
            <a:endParaRPr sz="1800">
              <a:solidFill>
                <a:srgbClr val="EF444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28713" y="3213084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14479" y="4456800"/>
            <a:ext cx="665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PERCLOS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calcula qué porcentaje del tiempo, en una ventana móvil de 60 segundos, los ojos han estado cerrados.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28713" y="4456797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14479" y="5700500"/>
            <a:ext cx="665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Blink rate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m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ide la cantidad de parpadeos recientes en una ventana móvil de 15s.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28713" y="5700497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pic>
        <p:nvPicPr>
          <p:cNvPr id="212" name="Google Shape;212;p21"/>
          <p:cNvPicPr preferRelativeResize="0"/>
          <p:nvPr/>
        </p:nvPicPr>
        <p:blipFill rotWithShape="1">
          <a:blip r:embed="rId4">
            <a:alphaModFix/>
          </a:blip>
          <a:srcRect b="38086" l="37735" r="37139" t="12127"/>
          <a:stretch/>
        </p:blipFill>
        <p:spPr>
          <a:xfrm>
            <a:off x="8149350" y="2662075"/>
            <a:ext cx="2788202" cy="3414326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9775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" y="2219325"/>
            <a:ext cx="1466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DETECCIÓN DE OBSTRUCCIÓN O </a:t>
            </a: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AUSENCIA DE ROSTRO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2" title="ros.JPG"/>
          <p:cNvPicPr preferRelativeResize="0"/>
          <p:nvPr/>
        </p:nvPicPr>
        <p:blipFill rotWithShape="1">
          <a:blip r:embed="rId6">
            <a:alphaModFix/>
          </a:blip>
          <a:srcRect b="0" l="2042" r="2042" t="0"/>
          <a:stretch/>
        </p:blipFill>
        <p:spPr>
          <a:xfrm>
            <a:off x="600075" y="2028825"/>
            <a:ext cx="5286374" cy="3771901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p22"/>
          <p:cNvSpPr txBox="1"/>
          <p:nvPr/>
        </p:nvSpPr>
        <p:spPr>
          <a:xfrm>
            <a:off x="6296375" y="2009775"/>
            <a:ext cx="52380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Si el sistema detecta manos sobre la región de los ojos o la boca, invalida las métricas de fatiga y dispara una alerta inmediata. </a:t>
            </a:r>
            <a:endParaRPr b="0" i="0" sz="1800" u="none" cap="none" strike="noStrik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 esta manera se evita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que el conductor engañe al sistema o conduzca en posiciones inseguras.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También se emitirá una alerta si no se puede detectar un rostro en cámara.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DETECCIÓN DE CELULAR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628650" y="2009775"/>
            <a:ext cx="54270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Mediante transfer learning, entrenamos 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un modelo basado en YOLOv8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para detectar específicamente la </a:t>
            </a: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presencia de teléfonos celulares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El sistema estará buscando detectar un teléfono celular en cada frame capturado desde la cámara. 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11838" y="4265412"/>
            <a:ext cx="532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3" title="Captura de pantalla 2025-11-27 a la(s) 22.40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927" y="1638027"/>
            <a:ext cx="5006225" cy="41350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DETECCIÓN DE </a:t>
            </a: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CINTURÓN DE SEGURIDAD</a:t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581025" y="1557575"/>
            <a:ext cx="1026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Igual que hicimos con los teléfonos celulares, entrenamos un modelo basado en YOLOv8s para poder detectar el uso de cinturones de seguridad.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72725"/>
            <a:ext cx="34861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72725"/>
            <a:ext cx="34861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72725"/>
            <a:ext cx="34861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1475" y="2942488"/>
            <a:ext cx="2895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803850" y="3827875"/>
            <a:ext cx="30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DETECTADO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876300" y="4453900"/>
            <a:ext cx="289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Si YOLO ve el cinturón, el contador se reinicia a cero.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48" name="Google Shape;24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08263" y="2942513"/>
            <a:ext cx="2895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4575738" y="3827863"/>
            <a:ext cx="30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PERIODO DE GRACIA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4648200" y="4453900"/>
            <a:ext cx="2895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20 segundos de tolerancia tras la última detección válida.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5050" y="2942513"/>
            <a:ext cx="2895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8275200" y="3827875"/>
            <a:ext cx="30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ALERTA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8420100" y="4453900"/>
            <a:ext cx="289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Solo si falta durante 5s consecutivos tras el periodo de gracia.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781550"/>
            <a:ext cx="110299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FUSIÓN DE RIESGOS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581025" y="15525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Como resultado, e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 sistema calcula un </a:t>
            </a:r>
            <a:r>
              <a:rPr b="1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Score Global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ponderado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425"/>
            <a:ext cx="12192000" cy="73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DEMO DE LA APLICACIÓN</a:t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581025" y="581025"/>
            <a:ext cx="47700" cy="590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6" title="demo4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8538" y="1135125"/>
            <a:ext cx="7054929" cy="572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425"/>
            <a:ext cx="12192000" cy="7343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277" name="Google Shape;277;p27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DEMO DE LA APLICACIÓN</a:t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581025" y="581025"/>
            <a:ext cx="47700" cy="590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7" title="demo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4575" y="1135125"/>
            <a:ext cx="7502849" cy="56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8"/>
          <p:cNvSpPr txBox="1"/>
          <p:nvPr/>
        </p:nvSpPr>
        <p:spPr>
          <a:xfrm>
            <a:off x="305276" y="735200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rPr>
              <a:t>CONCLUSIÓN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6" name="Google Shape;286;p28"/>
          <p:cNvSpPr txBox="1"/>
          <p:nvPr/>
        </p:nvSpPr>
        <p:spPr>
          <a:xfrm>
            <a:off x="305275" y="2049750"/>
            <a:ext cx="115815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El sistema DSM (Driver Safety Monitor) demuestra la viabilidad de usar </a:t>
            </a:r>
            <a:r>
              <a:rPr b="1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Visión Artificial de bajo costo</a:t>
            </a:r>
            <a:r>
              <a:rPr b="0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para prevenir accidentes de tr</a:t>
            </a:r>
            <a:r>
              <a:rPr lang="en-US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ánsito y </a:t>
            </a:r>
            <a:r>
              <a:rPr b="0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salvar vidas. </a:t>
            </a:r>
            <a:endParaRPr b="0" i="0" sz="2600" u="none" cap="none" strike="noStrik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La integración de </a:t>
            </a:r>
            <a:r>
              <a:rPr b="1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YOLO y MediaPipe</a:t>
            </a:r>
            <a:r>
              <a:rPr b="0" i="0" lang="en-US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permite un monitoreo robusto en tiempo real, abordando las causas principales de accidentes.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12" y="4695850"/>
            <a:ext cx="34385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/>
        </p:nvSpPr>
        <p:spPr>
          <a:xfrm>
            <a:off x="2460582" y="2424250"/>
            <a:ext cx="7270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¡MUCHAS GRACIAS!</a:t>
            </a:r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4154219" y="3894838"/>
            <a:ext cx="40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POR SU ATENCIÓN</a:t>
            </a:r>
            <a:endParaRPr/>
          </a:p>
        </p:txBody>
      </p:sp>
      <p:pic>
        <p:nvPicPr>
          <p:cNvPr descr="image.png" id="295" name="Google Shape;29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0687" y="1077275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 txBox="1"/>
          <p:nvPr/>
        </p:nvSpPr>
        <p:spPr>
          <a:xfrm>
            <a:off x="5106114" y="4905375"/>
            <a:ext cx="217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GRUPO 8 🚗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